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94A3B8"/>
    <a:srgbClr val="0F1728"/>
    <a:srgbClr val="0070C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2927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080178"/>
            <a:ext cx="6260134" cy="5484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dirty="0"/>
              <a:t>SIH26184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000" dirty="0"/>
              <a:t>Development of a Predictive Analytics Framework for Cybercrime Complaints to Forecast Likely Cash Withdrawal Locations in Advance, Enabling Generation of Actionable Intelligence for Timely and Proactive Cybercrime Intervention.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b="1" dirty="0"/>
              <a:t> – </a:t>
            </a:r>
            <a:r>
              <a:rPr lang="en-IN" sz="2000" dirty="0"/>
              <a:t>Blockchain &amp; Cybersecurity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000" b="1" dirty="0"/>
              <a:t>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</a:t>
            </a:r>
            <a:r>
              <a:rPr lang="en-US" sz="2000" b="1" dirty="0"/>
              <a:t> –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UNFAZED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b="1" dirty="0"/>
              <a:t>–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UNFAZED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814ADDD-73AB-BAA1-A3A5-E4B621F5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80" y="4010082"/>
            <a:ext cx="2284821" cy="2358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36C87F-1EDA-F080-5AC9-141B4730C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970" y="4715936"/>
            <a:ext cx="4795030" cy="189918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8D4A00B-4BE0-5FCA-E9E9-DF3EF1AA78E2}"/>
              </a:ext>
            </a:extLst>
          </p:cNvPr>
          <p:cNvGrpSpPr/>
          <p:nvPr/>
        </p:nvGrpSpPr>
        <p:grpSpPr>
          <a:xfrm>
            <a:off x="3410750" y="4028615"/>
            <a:ext cx="3707347" cy="2299375"/>
            <a:chOff x="107007" y="4151994"/>
            <a:chExt cx="3416860" cy="21339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73F4B9-8F56-EEBD-81BA-85796CEC3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007" y="4151994"/>
              <a:ext cx="3416860" cy="209448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9D9EBE2-C37D-808A-60A9-CBBF0DAC75AD}"/>
                </a:ext>
              </a:extLst>
            </p:cNvPr>
            <p:cNvSpPr txBox="1"/>
            <p:nvPr/>
          </p:nvSpPr>
          <p:spPr>
            <a:xfrm>
              <a:off x="250606" y="5677392"/>
              <a:ext cx="6319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000" b="1" dirty="0"/>
                <a:t>VICTIMS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8DD4E5-94CA-92AC-214D-84DA99CD5EAD}"/>
                </a:ext>
              </a:extLst>
            </p:cNvPr>
            <p:cNvSpPr txBox="1"/>
            <p:nvPr/>
          </p:nvSpPr>
          <p:spPr>
            <a:xfrm>
              <a:off x="2695102" y="5885845"/>
              <a:ext cx="704039" cy="4001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1000" b="1" dirty="0"/>
                <a:t>CASHOUT</a:t>
              </a:r>
            </a:p>
            <a:p>
              <a:pPr algn="ctr"/>
              <a:r>
                <a:rPr lang="en-IN" sz="1000" b="1" dirty="0"/>
                <a:t>ATMS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954D56-853C-B13B-08DD-707C49D946FC}"/>
                </a:ext>
              </a:extLst>
            </p:cNvPr>
            <p:cNvSpPr txBox="1"/>
            <p:nvPr/>
          </p:nvSpPr>
          <p:spPr>
            <a:xfrm>
              <a:off x="1463321" y="4994989"/>
              <a:ext cx="717085" cy="369789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000" b="1" dirty="0"/>
                <a:t>FRAUD</a:t>
              </a:r>
            </a:p>
            <a:p>
              <a:pPr algn="ctr"/>
              <a:r>
                <a:rPr lang="en-IN" sz="1000" b="1" dirty="0"/>
                <a:t>NETWORK</a:t>
              </a:r>
            </a:p>
          </p:txBody>
        </p:sp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27003"/>
            <a:ext cx="10972800" cy="1143000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 -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Fund-Flow Analysis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for Cybercrime Investigations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981619"/>
            <a:ext cx="121919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0F1728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2400" u="sng" dirty="0">
              <a:solidFill>
                <a:srgbClr val="0F1728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300" y="38073"/>
            <a:ext cx="2249850" cy="1062337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685DBB9-8C84-1885-A821-8A49708B6346}"/>
              </a:ext>
            </a:extLst>
          </p:cNvPr>
          <p:cNvSpPr/>
          <p:nvPr/>
        </p:nvSpPr>
        <p:spPr>
          <a:xfrm>
            <a:off x="220126" y="1456756"/>
            <a:ext cx="3190624" cy="2480244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1F4A739-324E-87A7-526F-629DEA0A41D0}"/>
              </a:ext>
            </a:extLst>
          </p:cNvPr>
          <p:cNvSpPr txBox="1"/>
          <p:nvPr/>
        </p:nvSpPr>
        <p:spPr>
          <a:xfrm>
            <a:off x="364057" y="1581769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EF4444"/>
                </a:solidFill>
                <a:latin typeface="Aptos"/>
              </a:rPr>
              <a:t>THE </a:t>
            </a:r>
            <a:r>
              <a:rPr sz="1400" b="1" dirty="0">
                <a:solidFill>
                  <a:srgbClr val="EF4444"/>
                </a:solidFill>
                <a:latin typeface="Aptos"/>
              </a:rPr>
              <a:t> PROBLEM</a:t>
            </a:r>
          </a:p>
        </p:txBody>
      </p:sp>
      <p:sp>
        <p:nvSpPr>
          <p:cNvPr id="28" name="Rounded Rectangle 6">
            <a:extLst>
              <a:ext uri="{FF2B5EF4-FFF2-40B4-BE49-F238E27FC236}">
                <a16:creationId xmlns:a16="http://schemas.microsoft.com/office/drawing/2014/main" id="{A44969FE-364F-4530-4AD5-6E413EBE3719}"/>
              </a:ext>
            </a:extLst>
          </p:cNvPr>
          <p:cNvSpPr/>
          <p:nvPr/>
        </p:nvSpPr>
        <p:spPr>
          <a:xfrm>
            <a:off x="3546156" y="1456756"/>
            <a:ext cx="3636783" cy="2480244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A5A3D0B5-0524-D28A-D162-57707798383C}"/>
              </a:ext>
            </a:extLst>
          </p:cNvPr>
          <p:cNvSpPr txBox="1"/>
          <p:nvPr/>
        </p:nvSpPr>
        <p:spPr>
          <a:xfrm>
            <a:off x="3742985" y="1548372"/>
            <a:ext cx="296163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3B82F6"/>
                </a:solidFill>
                <a:latin typeface="Aptos"/>
              </a:rPr>
              <a:t>OUR SOLUTION</a:t>
            </a:r>
            <a:endParaRPr sz="14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627C9E71-1710-C2B6-3678-F7D62BD1ECF0}"/>
              </a:ext>
            </a:extLst>
          </p:cNvPr>
          <p:cNvSpPr txBox="1"/>
          <p:nvPr/>
        </p:nvSpPr>
        <p:spPr>
          <a:xfrm>
            <a:off x="3632199" y="1779514"/>
            <a:ext cx="3501131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Predicts cash-out with 4.4 hours lead time </a:t>
            </a:r>
            <a:r>
              <a:rPr lang="en-IN" sz="1400" dirty="0"/>
              <a:t>(vs baseline model)  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Identifies Fraud Networks </a:t>
            </a:r>
            <a:r>
              <a:rPr lang="en-IN" sz="1400" dirty="0"/>
              <a:t>by linking complaints &amp; transactions.</a:t>
            </a:r>
            <a:r>
              <a:rPr lang="en-IN" sz="1400" b="1" dirty="0"/>
              <a:t> 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Shortlists the Top 5 locations</a:t>
            </a:r>
            <a:r>
              <a:rPr lang="en-IN" sz="1400" dirty="0"/>
              <a:t> from all possible withdrawal points. 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Shows the explainable reasons</a:t>
            </a:r>
            <a:r>
              <a:rPr lang="en-IN" sz="1400" dirty="0"/>
              <a:t>, along with its confidence score.</a:t>
            </a:r>
            <a:endParaRPr sz="1400" b="0" dirty="0">
              <a:latin typeface="Aptos"/>
            </a:endParaRPr>
          </a:p>
        </p:txBody>
      </p:sp>
      <p:sp>
        <p:nvSpPr>
          <p:cNvPr id="32" name="TextBox 9">
            <a:extLst>
              <a:ext uri="{FF2B5EF4-FFF2-40B4-BE49-F238E27FC236}">
                <a16:creationId xmlns:a16="http://schemas.microsoft.com/office/drawing/2014/main" id="{75A45008-154C-3826-553D-1FECE86C1A42}"/>
              </a:ext>
            </a:extLst>
          </p:cNvPr>
          <p:cNvSpPr txBox="1"/>
          <p:nvPr/>
        </p:nvSpPr>
        <p:spPr>
          <a:xfrm>
            <a:off x="283788" y="1872651"/>
            <a:ext cx="3093093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Investigations start too late.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Fund moves across fraud networks &amp; multiple accounts.</a:t>
            </a:r>
            <a:endParaRPr lang="en-IN" sz="1400" dirty="0"/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Large cash-out locations </a:t>
            </a:r>
            <a:r>
              <a:rPr lang="en-IN" sz="1400" dirty="0"/>
              <a:t>causes slow investigation.</a:t>
            </a:r>
          </a:p>
          <a:p>
            <a:pPr marL="285750" indent="-285750" algn="just"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Lack of explainable predictions</a:t>
            </a:r>
            <a:r>
              <a:rPr lang="en-IN" sz="1400" dirty="0"/>
              <a:t> makes it hard to decide location.</a:t>
            </a:r>
            <a:endParaRPr sz="1400" b="0" dirty="0">
              <a:latin typeface="Aptos"/>
            </a:endParaRPr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9A0DB6C8-0110-D01F-6871-56659C366E6D}"/>
              </a:ext>
            </a:extLst>
          </p:cNvPr>
          <p:cNvSpPr/>
          <p:nvPr/>
        </p:nvSpPr>
        <p:spPr>
          <a:xfrm>
            <a:off x="7273195" y="1380552"/>
            <a:ext cx="4707145" cy="3634241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4" name="TextBox 8">
            <a:extLst>
              <a:ext uri="{FF2B5EF4-FFF2-40B4-BE49-F238E27FC236}">
                <a16:creationId xmlns:a16="http://schemas.microsoft.com/office/drawing/2014/main" id="{44B870B3-8357-5157-3FE1-35391960F25E}"/>
              </a:ext>
            </a:extLst>
          </p:cNvPr>
          <p:cNvSpPr txBox="1"/>
          <p:nvPr/>
        </p:nvSpPr>
        <p:spPr>
          <a:xfrm>
            <a:off x="7445797" y="1438302"/>
            <a:ext cx="2834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3B82F6"/>
                </a:solidFill>
                <a:latin typeface="Aptos"/>
              </a:rPr>
              <a:t>NOVELTIES </a:t>
            </a:r>
            <a:endParaRPr sz="14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40FAC889-6F93-9267-F30B-6A579705B221}"/>
              </a:ext>
            </a:extLst>
          </p:cNvPr>
          <p:cNvSpPr txBox="1"/>
          <p:nvPr/>
        </p:nvSpPr>
        <p:spPr>
          <a:xfrm>
            <a:off x="7445795" y="1686378"/>
            <a:ext cx="4420081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Point-in-Time Graph Intelligence</a:t>
            </a:r>
          </a:p>
          <a:p>
            <a:pPr lvl="1" algn="just">
              <a:spcAft>
                <a:spcPts val="0"/>
              </a:spcAft>
            </a:pPr>
            <a:r>
              <a:rPr lang="en-IN" sz="1400" dirty="0"/>
              <a:t>Rebuilds the entire graph when complaint is filed, </a:t>
            </a:r>
            <a:r>
              <a:rPr lang="en-IN" sz="1400" b="1" dirty="0"/>
              <a:t>preventing data-leakage flaw </a:t>
            </a:r>
            <a:r>
              <a:rPr lang="en-IN" sz="1400" dirty="0"/>
              <a:t>that inflates accuracy.</a:t>
            </a:r>
            <a:endParaRPr lang="en-IN" sz="1400" b="1" dirty="0"/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Cross-Complaint Network Discovery</a:t>
            </a:r>
            <a:endParaRPr lang="en-IN" sz="1400" dirty="0"/>
          </a:p>
          <a:p>
            <a:pPr lvl="1">
              <a:spcAft>
                <a:spcPts val="0"/>
              </a:spcAft>
            </a:pPr>
            <a:r>
              <a:rPr lang="en-IN" sz="1400" dirty="0"/>
              <a:t>Identifies </a:t>
            </a:r>
            <a:r>
              <a:rPr lang="en-IN" sz="1400" b="1" dirty="0"/>
              <a:t>fraud networks</a:t>
            </a:r>
            <a:r>
              <a:rPr lang="en-IN" sz="1400" dirty="0"/>
              <a:t>, related accounts and other victims cases.</a:t>
            </a:r>
          </a:p>
          <a:p>
            <a:pPr marL="285750" indent="-285750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Closed Feedback Loop</a:t>
            </a:r>
            <a:endParaRPr lang="en-IN" sz="1400" dirty="0"/>
          </a:p>
          <a:p>
            <a:pPr lvl="1" algn="just">
              <a:spcAft>
                <a:spcPts val="0"/>
              </a:spcAft>
            </a:pPr>
            <a:r>
              <a:rPr lang="en-IN" sz="1400" dirty="0"/>
              <a:t>Auto-Retrains based on investigator’s feedbacks.</a:t>
            </a:r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Explainable &amp; Calibrated Predictions</a:t>
            </a:r>
            <a:r>
              <a:rPr lang="en-IN" sz="1400" dirty="0"/>
              <a:t> </a:t>
            </a:r>
          </a:p>
          <a:p>
            <a:pPr lvl="1">
              <a:spcAft>
                <a:spcPts val="0"/>
              </a:spcAft>
            </a:pPr>
            <a:r>
              <a:rPr lang="en-IN" sz="1400" dirty="0"/>
              <a:t>Confidence scores are backed by the factors that influenced each prediction. </a:t>
            </a:r>
          </a:p>
          <a:p>
            <a:pPr marL="285750" indent="-285750" algn="just">
              <a:spcBef>
                <a:spcPts val="3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Fraud Network Velocity Alerts</a:t>
            </a:r>
            <a:endParaRPr lang="en-IN" sz="1400" dirty="0"/>
          </a:p>
          <a:p>
            <a:pPr lvl="1">
              <a:spcAft>
                <a:spcPts val="0"/>
              </a:spcAft>
            </a:pPr>
            <a:r>
              <a:rPr lang="en-IN" sz="1400" dirty="0"/>
              <a:t>Ranked by how fast they’re adding new complaints, giving </a:t>
            </a:r>
            <a:r>
              <a:rPr lang="en-IN" sz="1400" b="1" dirty="0"/>
              <a:t>priority to fast-growing networks</a:t>
            </a:r>
            <a:r>
              <a:rPr lang="en-IN" sz="1400" dirty="0"/>
              <a:t>.</a:t>
            </a:r>
          </a:p>
          <a:p>
            <a:pPr lvl="1">
              <a:spcAft>
                <a:spcPts val="0"/>
              </a:spcAft>
            </a:pPr>
            <a:endParaRPr lang="en-IN" sz="1400" dirty="0"/>
          </a:p>
          <a:p>
            <a:pPr marL="285750" indent="-285750" algn="just">
              <a:spcAft>
                <a:spcPts val="0"/>
              </a:spcAft>
              <a:buFont typeface="Wingdings" panose="05000000000000000000" pitchFamily="2" charset="2"/>
              <a:buChar char="§"/>
            </a:pPr>
            <a:endParaRPr sz="1300" b="0" dirty="0"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C51BE62B-2C2C-3DF1-50CA-AFD7CBB7487F}"/>
              </a:ext>
            </a:extLst>
          </p:cNvPr>
          <p:cNvSpPr/>
          <p:nvPr/>
        </p:nvSpPr>
        <p:spPr>
          <a:xfrm>
            <a:off x="3169920" y="1517536"/>
            <a:ext cx="8747647" cy="4647210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978DB3-2578-A448-710D-C6CC2CA174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34" r="16368" b="8365"/>
          <a:stretch>
            <a:fillRect/>
          </a:stretch>
        </p:blipFill>
        <p:spPr>
          <a:xfrm>
            <a:off x="559884" y="1442010"/>
            <a:ext cx="2362200" cy="4853483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76C29B5-71BA-A6DE-B626-24C9F038FD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DA81A9-645B-1EC0-7F9A-0FE45058E270}"/>
              </a:ext>
            </a:extLst>
          </p:cNvPr>
          <p:cNvSpPr txBox="1">
            <a:spLocks/>
          </p:cNvSpPr>
          <p:nvPr/>
        </p:nvSpPr>
        <p:spPr bwMode="auto">
          <a:xfrm>
            <a:off x="496384" y="1044792"/>
            <a:ext cx="2362200" cy="451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8A8D9A8-D296-ABBB-0A57-A0F1BCC529D8}"/>
              </a:ext>
            </a:extLst>
          </p:cNvPr>
          <p:cNvSpPr txBox="1">
            <a:spLocks/>
          </p:cNvSpPr>
          <p:nvPr/>
        </p:nvSpPr>
        <p:spPr bwMode="auto">
          <a:xfrm>
            <a:off x="5247812" y="1039501"/>
            <a:ext cx="3235786" cy="451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400" b="1" dirty="0">
                <a:latin typeface="+mj-lt"/>
                <a:ea typeface="ＭＳ Ｐゴシック" pitchFamily="1" charset="-128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4EFF2-5E51-333A-8C92-277576C2A2AA}"/>
              </a:ext>
            </a:extLst>
          </p:cNvPr>
          <p:cNvSpPr txBox="1"/>
          <p:nvPr/>
        </p:nvSpPr>
        <p:spPr>
          <a:xfrm>
            <a:off x="3286430" y="1653453"/>
            <a:ext cx="8674682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1700" b="1" dirty="0"/>
              <a:t>BACKEND: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Python</a:t>
            </a:r>
            <a:r>
              <a:rPr lang="en-IN" sz="1700" dirty="0"/>
              <a:t> - Language for the API, ML pipeline, and graph engine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FastAPI</a:t>
            </a:r>
            <a:r>
              <a:rPr lang="en-IN" sz="1700" dirty="0"/>
              <a:t> - REST API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Uvicorn</a:t>
            </a:r>
            <a:r>
              <a:rPr lang="en-IN" sz="1700" dirty="0"/>
              <a:t> - 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SQLite</a:t>
            </a:r>
            <a:r>
              <a:rPr lang="en-IN" sz="1700" dirty="0"/>
              <a:t> </a:t>
            </a:r>
            <a:r>
              <a:rPr lang="en-IN" sz="1700" u="sng" dirty="0"/>
              <a:t>(demo)</a:t>
            </a:r>
            <a:r>
              <a:rPr lang="en-IN" sz="1700" dirty="0"/>
              <a:t> - Database, designed to be </a:t>
            </a:r>
            <a:r>
              <a:rPr lang="en-IN" sz="1700" b="1" dirty="0"/>
              <a:t>Postgres </a:t>
            </a:r>
            <a:r>
              <a:rPr lang="en-IN" sz="1700" dirty="0"/>
              <a:t>for production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Pydantic</a:t>
            </a:r>
            <a:r>
              <a:rPr lang="en-IN" sz="1700" dirty="0"/>
              <a:t> - Request/response 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700" b="1" dirty="0"/>
          </a:p>
          <a:p>
            <a:r>
              <a:rPr lang="en-IN" sz="1700" b="1" dirty="0"/>
              <a:t>MACHINE LEARNING: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XGBoost</a:t>
            </a:r>
            <a:r>
              <a:rPr lang="en-IN" sz="1700" dirty="0"/>
              <a:t> - Gradient-boosted ranking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scikit-learn</a:t>
            </a:r>
            <a:r>
              <a:rPr lang="en-IN" sz="1700" dirty="0"/>
              <a:t> - Calibration, baseline model, evaluation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SHAP</a:t>
            </a:r>
            <a:r>
              <a:rPr lang="en-IN" sz="1700" dirty="0"/>
              <a:t> - Model explainability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pandas / NumPy</a:t>
            </a:r>
            <a:r>
              <a:rPr lang="en-IN" sz="1700" dirty="0"/>
              <a:t> - Data processing and feature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 err="1"/>
              <a:t>NetworkX</a:t>
            </a:r>
            <a:r>
              <a:rPr lang="en-IN" sz="1700" dirty="0"/>
              <a:t> - Transaction graph, Louvain community detection (fraud ring discovery)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700" dirty="0"/>
          </a:p>
          <a:p>
            <a:r>
              <a:rPr lang="en-IN" sz="1700" b="1" dirty="0"/>
              <a:t>FRONTEND: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b="1" dirty="0"/>
              <a:t>React 18</a:t>
            </a:r>
            <a:r>
              <a:rPr lang="en-IN" sz="1700" dirty="0"/>
              <a:t> · </a:t>
            </a:r>
            <a:r>
              <a:rPr lang="en-IN" sz="1700" b="1" dirty="0"/>
              <a:t>Vite</a:t>
            </a:r>
            <a:r>
              <a:rPr lang="en-IN" sz="1700" dirty="0"/>
              <a:t> · </a:t>
            </a:r>
            <a:r>
              <a:rPr lang="en-IN" sz="1700" b="1" dirty="0"/>
              <a:t>Recharts</a:t>
            </a:r>
            <a:r>
              <a:rPr lang="en-IN" sz="1700" dirty="0"/>
              <a:t> · </a:t>
            </a:r>
            <a:r>
              <a:rPr lang="en-IN" sz="1700" b="1" dirty="0"/>
              <a:t>Leaflet </a:t>
            </a:r>
            <a:r>
              <a:rPr lang="en-IN" sz="1700" dirty="0"/>
              <a:t>(Maps)· </a:t>
            </a:r>
            <a:r>
              <a:rPr lang="en-IN" sz="1700" b="1" dirty="0"/>
              <a:t>react-force-graph-2d </a:t>
            </a:r>
            <a:r>
              <a:rPr lang="en-IN" sz="1700" dirty="0"/>
              <a:t>(Network </a:t>
            </a:r>
            <a:r>
              <a:rPr lang="en-IN" sz="1700" dirty="0" err="1"/>
              <a:t>Vizualization</a:t>
            </a:r>
            <a:r>
              <a:rPr lang="en-IN" sz="17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86300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E7391B74-384C-2D62-05A0-75567A0B8949}"/>
              </a:ext>
            </a:extLst>
          </p:cNvPr>
          <p:cNvSpPr/>
          <p:nvPr/>
        </p:nvSpPr>
        <p:spPr>
          <a:xfrm>
            <a:off x="558070" y="1092863"/>
            <a:ext cx="4843666" cy="3916535"/>
          </a:xfrm>
          <a:prstGeom prst="roundRect">
            <a:avLst>
              <a:gd name="adj" fmla="val 5062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C61A627-517F-FBA9-9628-BFAB8C6DC88E}"/>
              </a:ext>
            </a:extLst>
          </p:cNvPr>
          <p:cNvSpPr txBox="1"/>
          <p:nvPr/>
        </p:nvSpPr>
        <p:spPr>
          <a:xfrm>
            <a:off x="702001" y="1153548"/>
            <a:ext cx="2834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FEASIBILITY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BF2754F-EEC3-7E62-A243-CE3224D323C1}"/>
              </a:ext>
            </a:extLst>
          </p:cNvPr>
          <p:cNvSpPr txBox="1"/>
          <p:nvPr/>
        </p:nvSpPr>
        <p:spPr>
          <a:xfrm>
            <a:off x="714870" y="1478298"/>
            <a:ext cx="4509064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Working end-to-end pipeline:</a:t>
            </a:r>
            <a:r>
              <a:rPr lang="en-IN" sz="1400" dirty="0"/>
              <a:t> Complaint → Graph → Prediction &amp; Explanation → Fraud Networks &amp; Heatmaps → Alerts to Banks &amp; Police Stations.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Zero licensing cost:</a:t>
            </a:r>
            <a:r>
              <a:rPr lang="en-IN" sz="1400" dirty="0"/>
              <a:t> 100% open source stack. 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Lightweight compute requirements:</a:t>
            </a:r>
            <a:r>
              <a:rPr lang="en-IN" sz="1400" dirty="0"/>
              <a:t> Runs on normal infrastructure. No GPU clusters required.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Self-sustaining data flywheel :</a:t>
            </a:r>
            <a:r>
              <a:rPr lang="en-IN" sz="1400" dirty="0"/>
              <a:t> Investigator decisions retrains model. Continuous improvement without manual labelling.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Validated at real scale:</a:t>
            </a:r>
            <a:r>
              <a:rPr lang="en-IN" sz="1400" dirty="0"/>
              <a:t> 700+ complaints, 1,600+ accounts, 2,400+ transfers, 200 ATMs, 5 cities.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Fits existing investigator workflow: </a:t>
            </a:r>
            <a:r>
              <a:rPr lang="en-IN" sz="1400" dirty="0"/>
              <a:t>Investigators keep the exact decision authority they already have, the system leads the investigation.</a:t>
            </a:r>
          </a:p>
        </p:txBody>
      </p:sp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01E5859D-7AF1-1E9F-06F2-F7EE979B20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sp>
        <p:nvSpPr>
          <p:cNvPr id="27" name="Rounded Rectangle 6">
            <a:extLst>
              <a:ext uri="{FF2B5EF4-FFF2-40B4-BE49-F238E27FC236}">
                <a16:creationId xmlns:a16="http://schemas.microsoft.com/office/drawing/2014/main" id="{C4045AB6-AC50-0E60-226A-BC72BEDD747B}"/>
              </a:ext>
            </a:extLst>
          </p:cNvPr>
          <p:cNvSpPr/>
          <p:nvPr/>
        </p:nvSpPr>
        <p:spPr>
          <a:xfrm>
            <a:off x="5571495" y="1099391"/>
            <a:ext cx="6087107" cy="1847394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F9E649DB-F0D5-A65C-86E6-6D77927107AC}"/>
              </a:ext>
            </a:extLst>
          </p:cNvPr>
          <p:cNvSpPr txBox="1"/>
          <p:nvPr/>
        </p:nvSpPr>
        <p:spPr>
          <a:xfrm>
            <a:off x="5675549" y="1160074"/>
            <a:ext cx="341189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CHALLENGES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78822D09-B894-2CB6-3E91-DA5F3DCA1800}"/>
              </a:ext>
            </a:extLst>
          </p:cNvPr>
          <p:cNvSpPr txBox="1"/>
          <p:nvPr/>
        </p:nvSpPr>
        <p:spPr>
          <a:xfrm>
            <a:off x="5667059" y="1442489"/>
            <a:ext cx="594921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Data Silos</a:t>
            </a:r>
            <a:r>
              <a:rPr lang="en-IN" sz="1400" dirty="0"/>
              <a:t>: Live data from different banks &amp; states requires </a:t>
            </a:r>
            <a:r>
              <a:rPr lang="en-IN" sz="1400" dirty="0" err="1"/>
              <a:t>MoUs</a:t>
            </a:r>
            <a:r>
              <a:rPr lang="en-IN" sz="1400" dirty="0"/>
              <a:t> &amp; API integration.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Scaling Issues with Graph</a:t>
            </a:r>
            <a:r>
              <a:rPr lang="en-IN" sz="1400" dirty="0"/>
              <a:t>: Full graph rebuild is not optimal at national scale</a:t>
            </a: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IN" sz="1400" b="1" dirty="0"/>
              <a:t>Evolving Patterns</a:t>
            </a:r>
            <a:r>
              <a:rPr lang="en-IN" sz="1400" dirty="0"/>
              <a:t>: Fraud networks change patterns &amp; behaviours overtime.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Privacy</a:t>
            </a:r>
            <a:r>
              <a:rPr lang="en-IN" sz="1400" dirty="0"/>
              <a:t>: Victim’s sensitive data requires DPDP Act-grade data protection.</a:t>
            </a:r>
          </a:p>
        </p:txBody>
      </p:sp>
      <p:sp>
        <p:nvSpPr>
          <p:cNvPr id="36" name="Rounded Rectangle 6">
            <a:extLst>
              <a:ext uri="{FF2B5EF4-FFF2-40B4-BE49-F238E27FC236}">
                <a16:creationId xmlns:a16="http://schemas.microsoft.com/office/drawing/2014/main" id="{61A27B6E-13EE-8D79-7364-ADA5C1D309C1}"/>
              </a:ext>
            </a:extLst>
          </p:cNvPr>
          <p:cNvSpPr/>
          <p:nvPr/>
        </p:nvSpPr>
        <p:spPr>
          <a:xfrm>
            <a:off x="5549722" y="3079102"/>
            <a:ext cx="6108880" cy="1930296"/>
          </a:xfrm>
          <a:prstGeom prst="roundRect">
            <a:avLst>
              <a:gd name="adj" fmla="val 8000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E51FE085-62A2-3727-0599-FC02595254B8}"/>
              </a:ext>
            </a:extLst>
          </p:cNvPr>
          <p:cNvSpPr txBox="1"/>
          <p:nvPr/>
        </p:nvSpPr>
        <p:spPr>
          <a:xfrm>
            <a:off x="5675549" y="3139786"/>
            <a:ext cx="504881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STRATEGIES FOR OVERCOMING CHALLENGES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C9C3B4D1-6272-F697-36F9-E3C35A690DC1}"/>
              </a:ext>
            </a:extLst>
          </p:cNvPr>
          <p:cNvSpPr txBox="1"/>
          <p:nvPr/>
        </p:nvSpPr>
        <p:spPr>
          <a:xfrm>
            <a:off x="5675548" y="3422201"/>
            <a:ext cx="580158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b="1" dirty="0"/>
              <a:t>Phase Launch</a:t>
            </a:r>
            <a:r>
              <a:rPr lang="en-IN" sz="1400" dirty="0"/>
              <a:t>: One bank + state cyber cell → Scale to multiple.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Incremental Graph Updates</a:t>
            </a:r>
            <a:r>
              <a:rPr lang="en-IN" sz="1400" dirty="0"/>
              <a:t>: Update only new affected parts of graph. 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Continuous retraining</a:t>
            </a:r>
            <a:r>
              <a:rPr lang="en-IN" sz="1400" dirty="0"/>
              <a:t>: Retraining using newly closed cases to adapt to evolving behaviour. Decisions are labelled for retraining.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IN" sz="1400" b="1" dirty="0"/>
              <a:t>Privacy</a:t>
            </a:r>
            <a:r>
              <a:rPr lang="en-IN" sz="1400" dirty="0"/>
              <a:t>: Display obfuscated codes instead of raw sensitive data. 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7D1DA3C-833C-93DD-E1A7-219A995E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97" t="33125" r="3606" b="34475"/>
          <a:stretch>
            <a:fillRect/>
          </a:stretch>
        </p:blipFill>
        <p:spPr>
          <a:xfrm>
            <a:off x="871955" y="5415657"/>
            <a:ext cx="9477356" cy="891796"/>
          </a:xfrm>
          <a:prstGeom prst="rect">
            <a:avLst/>
          </a:prstGeom>
        </p:spPr>
      </p:pic>
      <p:sp>
        <p:nvSpPr>
          <p:cNvPr id="41" name="TextBox 8">
            <a:extLst>
              <a:ext uri="{FF2B5EF4-FFF2-40B4-BE49-F238E27FC236}">
                <a16:creationId xmlns:a16="http://schemas.microsoft.com/office/drawing/2014/main" id="{89FC62FA-495E-F173-9E2D-5706F0074FEF}"/>
              </a:ext>
            </a:extLst>
          </p:cNvPr>
          <p:cNvSpPr txBox="1"/>
          <p:nvPr/>
        </p:nvSpPr>
        <p:spPr>
          <a:xfrm>
            <a:off x="604099" y="5099042"/>
            <a:ext cx="271189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DEPLOYMENT ROADMAP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954" y="39027"/>
            <a:ext cx="2098647" cy="990942"/>
          </a:xfrm>
          <a:prstGeom prst="rect">
            <a:avLst/>
          </a:prstGeom>
        </p:spPr>
      </p:pic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54D78FA7-70A1-F70B-D015-92E9E92293C6}"/>
              </a:ext>
            </a:extLst>
          </p:cNvPr>
          <p:cNvSpPr/>
          <p:nvPr/>
        </p:nvSpPr>
        <p:spPr>
          <a:xfrm>
            <a:off x="431067" y="1111486"/>
            <a:ext cx="4411357" cy="5106754"/>
          </a:xfrm>
          <a:prstGeom prst="roundRect">
            <a:avLst>
              <a:gd name="adj" fmla="val 2759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2B4FAE5-F118-DE97-10C0-997FB0289592}"/>
              </a:ext>
            </a:extLst>
          </p:cNvPr>
          <p:cNvSpPr txBox="1"/>
          <p:nvPr/>
        </p:nvSpPr>
        <p:spPr>
          <a:xfrm>
            <a:off x="574998" y="1172170"/>
            <a:ext cx="478440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IMPACTS ON CYBERCELLS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E1BA6F-A950-D349-0E5D-CEA90ED4D94F}"/>
              </a:ext>
            </a:extLst>
          </p:cNvPr>
          <p:cNvSpPr txBox="1"/>
          <p:nvPr/>
        </p:nvSpPr>
        <p:spPr>
          <a:xfrm>
            <a:off x="587868" y="1488453"/>
            <a:ext cx="4153465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Faster investigations:</a:t>
            </a:r>
            <a:r>
              <a:rPr lang="en-IN" sz="1600" dirty="0"/>
              <a:t> Reduces hundreds of possible withdrawal endpoints to a </a:t>
            </a:r>
            <a:r>
              <a:rPr lang="en-IN" sz="1600" b="1" dirty="0"/>
              <a:t>ranked Top-5 shortlist</a:t>
            </a:r>
            <a:endParaRPr lang="en-IN" sz="1600" dirty="0"/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Earlier intervention:</a:t>
            </a:r>
            <a:r>
              <a:rPr lang="en-IN" sz="1600" dirty="0"/>
              <a:t> In our </a:t>
            </a:r>
            <a:r>
              <a:rPr lang="en-IN" sz="1600" dirty="0" err="1"/>
              <a:t>modeled</a:t>
            </a:r>
            <a:r>
              <a:rPr lang="en-IN" sz="1600" dirty="0"/>
              <a:t> dataset, 121 of 138 test cases had a </a:t>
            </a:r>
            <a:r>
              <a:rPr lang="en-IN" sz="1600" b="1" dirty="0"/>
              <a:t>real filing-to-cash-out window</a:t>
            </a:r>
            <a:r>
              <a:rPr lang="en-IN" sz="1600" dirty="0"/>
              <a:t>, averaging 4.4 hours.</a:t>
            </a:r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Fraud Network visibility: </a:t>
            </a:r>
            <a:r>
              <a:rPr lang="en-IN" sz="1600" dirty="0"/>
              <a:t>One complaint can uncover </a:t>
            </a:r>
            <a:r>
              <a:rPr lang="en-IN" sz="1600" b="1" dirty="0"/>
              <a:t>30-40+ linked mule accounts and other victim cases</a:t>
            </a:r>
            <a:r>
              <a:rPr lang="en-IN" sz="1600" dirty="0"/>
              <a:t>, expanding investigative reach. </a:t>
            </a:r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Measurable Performance:</a:t>
            </a:r>
            <a:r>
              <a:rPr lang="en-IN" sz="1600" dirty="0"/>
              <a:t> Prototype shows </a:t>
            </a:r>
            <a:r>
              <a:rPr lang="en-IN" sz="1600" b="1" dirty="0"/>
              <a:t>48.6% Precision@5 </a:t>
            </a:r>
            <a:r>
              <a:rPr lang="en-IN" sz="1600" dirty="0"/>
              <a:t>vs</a:t>
            </a:r>
            <a:r>
              <a:rPr lang="en-IN" sz="1600" b="1" dirty="0"/>
              <a:t> 12.3% Baseline</a:t>
            </a:r>
            <a:r>
              <a:rPr lang="en-IN" sz="1600" dirty="0"/>
              <a:t>, with an average </a:t>
            </a:r>
            <a:r>
              <a:rPr lang="en-IN" sz="1600" b="1" dirty="0"/>
              <a:t>4.4-hour lead</a:t>
            </a:r>
            <a:r>
              <a:rPr lang="en-IN" sz="1600" dirty="0"/>
              <a:t> </a:t>
            </a:r>
            <a:r>
              <a:rPr lang="en-IN" sz="1600" b="1" dirty="0"/>
              <a:t>time</a:t>
            </a:r>
            <a:r>
              <a:rPr lang="en-IN" sz="1600" dirty="0"/>
              <a:t>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Unclear cases to Clear Priorities: </a:t>
            </a:r>
            <a:r>
              <a:rPr lang="en-IN" sz="1600" dirty="0"/>
              <a:t>Automatically shows HIGH-urgency cases, helping focus on the important cases first. </a:t>
            </a:r>
          </a:p>
          <a:p>
            <a:pPr marL="285750" lvl="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600" b="1" dirty="0"/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7F41DA60-31A0-25E0-F9A2-1D1608F24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5243"/>
            <a:ext cx="15159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UNFAZED</a:t>
            </a:r>
            <a:endParaRPr lang="en-IN" dirty="0"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67522A54-C7CA-D012-46A5-80F6D9A0C0D0}"/>
              </a:ext>
            </a:extLst>
          </p:cNvPr>
          <p:cNvSpPr/>
          <p:nvPr/>
        </p:nvSpPr>
        <p:spPr>
          <a:xfrm>
            <a:off x="4986867" y="1111486"/>
            <a:ext cx="6942666" cy="2511620"/>
          </a:xfrm>
          <a:prstGeom prst="roundRect">
            <a:avLst>
              <a:gd name="adj" fmla="val 5062"/>
            </a:avLst>
          </a:prstGeom>
          <a:solidFill>
            <a:schemeClr val="bg1">
              <a:lumMod val="95000"/>
            </a:schemeClr>
          </a:solidFill>
          <a:ln>
            <a:solidFill>
              <a:srgbClr val="1D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0070C0"/>
              </a:solidFill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6576D54B-53F4-5196-0227-0D8C4A8C06D3}"/>
              </a:ext>
            </a:extLst>
          </p:cNvPr>
          <p:cNvSpPr txBox="1"/>
          <p:nvPr/>
        </p:nvSpPr>
        <p:spPr>
          <a:xfrm>
            <a:off x="5173133" y="1172170"/>
            <a:ext cx="53306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rgbClr val="3B82F6"/>
                </a:solidFill>
                <a:latin typeface="Aptos"/>
              </a:rPr>
              <a:t>SOCIAL &amp; ECONOMICAL BENEFITS </a:t>
            </a:r>
            <a:endParaRPr sz="1600" b="1" dirty="0">
              <a:solidFill>
                <a:srgbClr val="3B82F6"/>
              </a:solidFill>
              <a:latin typeface="Aptos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F68BD0E4-6F52-938F-D4FE-BD0336709B27}"/>
              </a:ext>
            </a:extLst>
          </p:cNvPr>
          <p:cNvSpPr txBox="1"/>
          <p:nvPr/>
        </p:nvSpPr>
        <p:spPr>
          <a:xfrm>
            <a:off x="5088468" y="1454585"/>
            <a:ext cx="68410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Higher recovery potential: </a:t>
            </a:r>
            <a:r>
              <a:rPr lang="en-IN" sz="1600" dirty="0"/>
              <a:t>Earlier intervention can improve chances of </a:t>
            </a:r>
            <a:r>
              <a:rPr lang="en-IN" sz="1600" b="1" dirty="0"/>
              <a:t>actual victim recovery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Public trust:</a:t>
            </a:r>
            <a:r>
              <a:rPr lang="en-IN" sz="1600" dirty="0"/>
              <a:t> Strengthens confidence in India's growing digital-payment ecosystem.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Lower investigation cost: </a:t>
            </a:r>
            <a:r>
              <a:rPr lang="en-IN" sz="1600" dirty="0"/>
              <a:t>Reduces manual tracing effort and helps cyber cells handle more cases.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National-scale impact: </a:t>
            </a:r>
            <a:r>
              <a:rPr lang="en-IN" sz="1600" dirty="0"/>
              <a:t>India loses thousands of crores annually. Small lift in recovery is crores at national volume.</a:t>
            </a:r>
            <a:br>
              <a:rPr lang="en-IN" sz="1600" dirty="0"/>
            </a:br>
            <a:endParaRPr lang="en-IN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B6F5BBA-644F-58C1-6A16-9CAD828C8E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2" t="7168" r="8012" b="7834"/>
          <a:stretch>
            <a:fillRect/>
          </a:stretch>
        </p:blipFill>
        <p:spPr>
          <a:xfrm>
            <a:off x="5029200" y="3762909"/>
            <a:ext cx="3401396" cy="24520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69BFFA-B54F-3944-BD39-C874533BE6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22" t="2822" r="2647" b="4390"/>
          <a:stretch>
            <a:fillRect/>
          </a:stretch>
        </p:blipFill>
        <p:spPr>
          <a:xfrm>
            <a:off x="8575039" y="3762909"/>
            <a:ext cx="3307081" cy="245533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19665" y="1566694"/>
            <a:ext cx="10752667" cy="466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Lundberg, S.M. (2017) -</a:t>
            </a:r>
            <a:r>
              <a:rPr lang="en-IN" sz="2000" dirty="0"/>
              <a:t>"A Unified Approach to Interpreting Model Predictions." </a:t>
            </a:r>
            <a:r>
              <a:rPr lang="en-IN" sz="2000" i="1" dirty="0" err="1"/>
              <a:t>NeurIPS</a:t>
            </a:r>
            <a:r>
              <a:rPr lang="en-IN" sz="2000" i="1" dirty="0"/>
              <a:t> 2017</a:t>
            </a:r>
            <a:r>
              <a:rPr lang="en-IN" sz="2000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Blondel, V.D., Guillaume, J.-L., Lambiotte, R., &amp; Lefebvre, E. (2008).</a:t>
            </a:r>
            <a:r>
              <a:rPr lang="en-IN" sz="2000" dirty="0"/>
              <a:t> "Fast unfolding of communities in large networks." </a:t>
            </a:r>
            <a:r>
              <a:rPr lang="en-IN" sz="2000" i="1" dirty="0"/>
              <a:t>Journal of Statistical Mechanics: Theory and Experiment</a:t>
            </a:r>
            <a:r>
              <a:rPr lang="en-IN" sz="2000" dirty="0"/>
              <a:t>, 2008. 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Digital Personal Data Protection Act, 2023</a:t>
            </a:r>
            <a:r>
              <a:rPr lang="en-IN" sz="2000" dirty="0"/>
              <a:t> (Act No. 22 of 2023), Government of India, Ministry of Electronics &amp; IT.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Weber, M., </a:t>
            </a:r>
            <a:r>
              <a:rPr lang="en-IN" sz="2000" b="1" dirty="0" err="1"/>
              <a:t>Domeniconi</a:t>
            </a:r>
            <a:r>
              <a:rPr lang="en-IN" sz="2000" b="1" dirty="0"/>
              <a:t>, G., Chen, J., Weidele, D.K.I., </a:t>
            </a:r>
            <a:r>
              <a:rPr lang="en-IN" sz="2000" b="1" dirty="0" err="1"/>
              <a:t>Bellei</a:t>
            </a:r>
            <a:r>
              <a:rPr lang="en-IN" sz="2000" b="1" dirty="0"/>
              <a:t>, C., Robinson, T., &amp; </a:t>
            </a:r>
            <a:r>
              <a:rPr lang="en-IN" sz="2000" b="1" dirty="0" err="1"/>
              <a:t>Leiserson</a:t>
            </a:r>
            <a:r>
              <a:rPr lang="en-IN" sz="2000" b="1" dirty="0"/>
              <a:t>, C.E. (2019).</a:t>
            </a:r>
            <a:r>
              <a:rPr lang="en-IN" sz="2000" dirty="0"/>
              <a:t> "Anti-Money Laundering in Bitcoin: Experimenting with Graph Convolutional Networks for Financial Forensics." </a:t>
            </a:r>
            <a:r>
              <a:rPr lang="en-IN" sz="2000" i="1" dirty="0"/>
              <a:t>KDD '19 Workshop on Anomaly Detection in Finance</a:t>
            </a:r>
            <a:br>
              <a:rPr lang="en-IN" sz="2000" dirty="0"/>
            </a:br>
            <a:br>
              <a:rPr lang="en-IN" sz="2000" dirty="0"/>
            </a:br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7953</TotalTime>
  <Words>947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 - Predictive Fund-Flow Analysis      for Cybercrime Investigations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Naveen Kumar</cp:lastModifiedBy>
  <cp:revision>165</cp:revision>
  <dcterms:created xsi:type="dcterms:W3CDTF">2013-12-12T18:46:50Z</dcterms:created>
  <dcterms:modified xsi:type="dcterms:W3CDTF">2026-09-07T14:02:15Z</dcterms:modified>
  <cp:category/>
</cp:coreProperties>
</file>