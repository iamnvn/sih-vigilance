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82F6"/>
    <a:srgbClr val="94A3B8"/>
    <a:srgbClr val="0F1728"/>
    <a:srgbClr val="0070C0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384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229278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7772" y="1080178"/>
            <a:ext cx="6260134" cy="5484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sz="16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IN" sz="2000" dirty="0"/>
              <a:t>SIH26184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</a:t>
            </a:r>
            <a:r>
              <a:rPr lang="en-IN" sz="2000" dirty="0"/>
              <a:t>Development of a Predictive Analytics Framework for Cybercrime Complaints to Forecast Likely Cash Withdrawal Locations in Advance, Enabling Generation of Actionable Intelligence for Timely and Proactive Cybercrime Intervention.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</a:t>
            </a:r>
            <a:r>
              <a:rPr lang="en-US" sz="2000" b="1" dirty="0"/>
              <a:t> – </a:t>
            </a:r>
            <a:r>
              <a:rPr lang="en-IN" sz="2000" dirty="0"/>
              <a:t>Blockchain &amp; Cybersecurity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</a:t>
            </a:r>
            <a:r>
              <a:rPr lang="en-US" sz="2000" b="1" dirty="0"/>
              <a:t> –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</a:t>
            </a:r>
            <a:r>
              <a:rPr lang="en-US" sz="2000" b="1" dirty="0"/>
              <a:t> –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UNFAZED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</a:t>
            </a:r>
            <a:r>
              <a:rPr lang="en-US" b="1" dirty="0"/>
              <a:t>–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UNFAZED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-127003"/>
            <a:ext cx="10972800" cy="1143000"/>
          </a:xfrm>
        </p:spPr>
        <p:txBody>
          <a:bodyPr/>
          <a:lstStyle/>
          <a:p>
            <a:pPr eaLnBrk="1" hangingPunct="1"/>
            <a:b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 -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Fund-Flow Analysis 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for Cybercrime Investigations</a:t>
            </a:r>
            <a:endParaRPr lang="en-US" sz="28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023954"/>
            <a:ext cx="1219199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0F1728"/>
                </a:solidFill>
                <a:latin typeface="Arial" pitchFamily="34" charset="0"/>
                <a:cs typeface="Arial" pitchFamily="34" charset="0"/>
              </a:rPr>
              <a:t>Proposed Solution:</a:t>
            </a:r>
            <a:endParaRPr lang="en-US" sz="2400" u="sng" dirty="0">
              <a:solidFill>
                <a:srgbClr val="0F1728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25243"/>
            <a:ext cx="151596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UNFAZED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00" y="38073"/>
            <a:ext cx="2249850" cy="1062337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6685DBB9-8C84-1885-A821-8A49708B6346}"/>
              </a:ext>
            </a:extLst>
          </p:cNvPr>
          <p:cNvSpPr/>
          <p:nvPr/>
        </p:nvSpPr>
        <p:spPr>
          <a:xfrm>
            <a:off x="220126" y="1558359"/>
            <a:ext cx="3190624" cy="3157206"/>
          </a:xfrm>
          <a:prstGeom prst="roundRect">
            <a:avLst>
              <a:gd name="adj" fmla="val 8000"/>
            </a:avLst>
          </a:prstGeom>
          <a:solidFill>
            <a:schemeClr val="bg1">
              <a:lumMod val="95000"/>
            </a:schemeClr>
          </a:solidFill>
          <a:ln>
            <a:solidFill>
              <a:srgbClr val="1D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rgbClr val="0070C0"/>
              </a:solidFill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1F4A739-324E-87A7-526F-629DEA0A41D0}"/>
              </a:ext>
            </a:extLst>
          </p:cNvPr>
          <p:cNvSpPr txBox="1"/>
          <p:nvPr/>
        </p:nvSpPr>
        <p:spPr>
          <a:xfrm>
            <a:off x="364057" y="1683372"/>
            <a:ext cx="28346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>
                <a:solidFill>
                  <a:srgbClr val="EF4444"/>
                </a:solidFill>
                <a:latin typeface="Aptos"/>
              </a:rPr>
              <a:t>THE </a:t>
            </a:r>
            <a:r>
              <a:rPr sz="1400" b="1" dirty="0">
                <a:solidFill>
                  <a:srgbClr val="EF4444"/>
                </a:solidFill>
                <a:latin typeface="Aptos"/>
              </a:rPr>
              <a:t> PROBLEM</a:t>
            </a:r>
          </a:p>
        </p:txBody>
      </p:sp>
      <p:sp>
        <p:nvSpPr>
          <p:cNvPr id="28" name="Rounded Rectangle 6">
            <a:extLst>
              <a:ext uri="{FF2B5EF4-FFF2-40B4-BE49-F238E27FC236}">
                <a16:creationId xmlns:a16="http://schemas.microsoft.com/office/drawing/2014/main" id="{A44969FE-364F-4530-4AD5-6E413EBE3719}"/>
              </a:ext>
            </a:extLst>
          </p:cNvPr>
          <p:cNvSpPr/>
          <p:nvPr/>
        </p:nvSpPr>
        <p:spPr>
          <a:xfrm>
            <a:off x="3665667" y="1558359"/>
            <a:ext cx="3354254" cy="3157206"/>
          </a:xfrm>
          <a:prstGeom prst="roundRect">
            <a:avLst>
              <a:gd name="adj" fmla="val 8000"/>
            </a:avLst>
          </a:prstGeom>
          <a:solidFill>
            <a:schemeClr val="bg1">
              <a:lumMod val="95000"/>
            </a:schemeClr>
          </a:solidFill>
          <a:ln>
            <a:solidFill>
              <a:srgbClr val="1D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A5A3D0B5-0524-D28A-D162-57707798383C}"/>
              </a:ext>
            </a:extLst>
          </p:cNvPr>
          <p:cNvSpPr txBox="1"/>
          <p:nvPr/>
        </p:nvSpPr>
        <p:spPr>
          <a:xfrm>
            <a:off x="3742985" y="1683843"/>
            <a:ext cx="296163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>
                <a:solidFill>
                  <a:srgbClr val="3B82F6"/>
                </a:solidFill>
                <a:latin typeface="Aptos"/>
              </a:rPr>
              <a:t>OUR SOLUTION</a:t>
            </a:r>
            <a:endParaRPr sz="1400" b="1" dirty="0">
              <a:solidFill>
                <a:srgbClr val="3B82F6"/>
              </a:solidFill>
              <a:latin typeface="Aptos"/>
            </a:endParaRPr>
          </a:p>
        </p:txBody>
      </p:sp>
      <p:sp>
        <p:nvSpPr>
          <p:cNvPr id="30" name="TextBox 9">
            <a:extLst>
              <a:ext uri="{FF2B5EF4-FFF2-40B4-BE49-F238E27FC236}">
                <a16:creationId xmlns:a16="http://schemas.microsoft.com/office/drawing/2014/main" id="{627C9E71-1710-C2B6-3678-F7D62BD1ECF0}"/>
              </a:ext>
            </a:extLst>
          </p:cNvPr>
          <p:cNvSpPr txBox="1"/>
          <p:nvPr/>
        </p:nvSpPr>
        <p:spPr>
          <a:xfrm>
            <a:off x="3718087" y="1965787"/>
            <a:ext cx="3207648" cy="22082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en-IN" sz="1500" b="1" dirty="0"/>
              <a:t>Predicts cash-out with 4.4 hours lead time </a:t>
            </a:r>
            <a:r>
              <a:rPr lang="en-IN" sz="1500" dirty="0"/>
              <a:t>(vs baseline model)  </a:t>
            </a:r>
          </a:p>
          <a:p>
            <a:pPr marL="285750" indent="-285750" algn="just"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en-IN" sz="1500" b="1" dirty="0"/>
              <a:t>Identifies Fraud Networks </a:t>
            </a:r>
            <a:r>
              <a:rPr lang="en-IN" sz="1500" dirty="0"/>
              <a:t>by linking complaints &amp; transactions.</a:t>
            </a:r>
            <a:r>
              <a:rPr lang="en-IN" sz="1500" b="1" dirty="0"/>
              <a:t> </a:t>
            </a:r>
          </a:p>
          <a:p>
            <a:pPr marL="285750" indent="-285750" algn="just"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en-IN" sz="1500" b="1" dirty="0"/>
              <a:t>Shortlists the Top 5 locations</a:t>
            </a:r>
            <a:r>
              <a:rPr lang="en-IN" sz="1500" dirty="0"/>
              <a:t> from all possible withdrawal points. </a:t>
            </a:r>
          </a:p>
          <a:p>
            <a:pPr marL="285750" indent="-285750" algn="just"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en-IN" sz="1500" b="1" dirty="0"/>
              <a:t>Shows the explainable reasons</a:t>
            </a:r>
            <a:r>
              <a:rPr lang="en-IN" sz="1500" dirty="0"/>
              <a:t>, along with its confidence score.</a:t>
            </a:r>
            <a:endParaRPr sz="1500" b="0" dirty="0">
              <a:latin typeface="Aptos"/>
            </a:endParaRPr>
          </a:p>
        </p:txBody>
      </p:sp>
      <p:sp>
        <p:nvSpPr>
          <p:cNvPr id="32" name="TextBox 9">
            <a:extLst>
              <a:ext uri="{FF2B5EF4-FFF2-40B4-BE49-F238E27FC236}">
                <a16:creationId xmlns:a16="http://schemas.microsoft.com/office/drawing/2014/main" id="{75A45008-154C-3826-553D-1FECE86C1A42}"/>
              </a:ext>
            </a:extLst>
          </p:cNvPr>
          <p:cNvSpPr txBox="1"/>
          <p:nvPr/>
        </p:nvSpPr>
        <p:spPr>
          <a:xfrm>
            <a:off x="317657" y="1965787"/>
            <a:ext cx="3002838" cy="22082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en-IN" sz="1500" b="1" dirty="0"/>
              <a:t>Investigations start too late.</a:t>
            </a:r>
          </a:p>
          <a:p>
            <a:pPr marL="285750" indent="-285750" algn="just"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en-IN" sz="1500" b="1" dirty="0"/>
              <a:t>Fund moves across fraud networks &amp; multiple accounts.</a:t>
            </a:r>
            <a:endParaRPr lang="en-IN" sz="1500" dirty="0"/>
          </a:p>
          <a:p>
            <a:pPr marL="285750" indent="-285750" algn="just"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en-IN" sz="1500" b="1" dirty="0"/>
              <a:t>Too many possible cash-out locations </a:t>
            </a:r>
            <a:r>
              <a:rPr lang="en-IN" sz="1500" dirty="0"/>
              <a:t>causes slow investigation.</a:t>
            </a:r>
          </a:p>
          <a:p>
            <a:pPr marL="285750" indent="-285750" algn="just"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en-IN" sz="1500" b="1" dirty="0"/>
              <a:t>Lack of explainable predictions</a:t>
            </a:r>
            <a:r>
              <a:rPr lang="en-IN" sz="1500" dirty="0"/>
              <a:t> makes it hard to decide location.</a:t>
            </a:r>
            <a:endParaRPr sz="1500" b="0" dirty="0">
              <a:latin typeface="Aptos"/>
            </a:endParaRPr>
          </a:p>
        </p:txBody>
      </p:sp>
      <p:sp>
        <p:nvSpPr>
          <p:cNvPr id="33" name="Rounded Rectangle 6">
            <a:extLst>
              <a:ext uri="{FF2B5EF4-FFF2-40B4-BE49-F238E27FC236}">
                <a16:creationId xmlns:a16="http://schemas.microsoft.com/office/drawing/2014/main" id="{9A0DB6C8-0110-D01F-6871-56659C366E6D}"/>
              </a:ext>
            </a:extLst>
          </p:cNvPr>
          <p:cNvSpPr/>
          <p:nvPr/>
        </p:nvSpPr>
        <p:spPr>
          <a:xfrm>
            <a:off x="7273195" y="1558359"/>
            <a:ext cx="4707145" cy="3157206"/>
          </a:xfrm>
          <a:prstGeom prst="roundRect">
            <a:avLst>
              <a:gd name="adj" fmla="val 8000"/>
            </a:avLst>
          </a:prstGeom>
          <a:solidFill>
            <a:schemeClr val="bg1">
              <a:lumMod val="95000"/>
            </a:schemeClr>
          </a:solidFill>
          <a:ln>
            <a:solidFill>
              <a:srgbClr val="1D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4" name="TextBox 8">
            <a:extLst>
              <a:ext uri="{FF2B5EF4-FFF2-40B4-BE49-F238E27FC236}">
                <a16:creationId xmlns:a16="http://schemas.microsoft.com/office/drawing/2014/main" id="{44B870B3-8357-5157-3FE1-35391960F25E}"/>
              </a:ext>
            </a:extLst>
          </p:cNvPr>
          <p:cNvSpPr txBox="1"/>
          <p:nvPr/>
        </p:nvSpPr>
        <p:spPr>
          <a:xfrm>
            <a:off x="7445797" y="1616108"/>
            <a:ext cx="28346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>
                <a:solidFill>
                  <a:srgbClr val="3B82F6"/>
                </a:solidFill>
                <a:latin typeface="Aptos"/>
              </a:rPr>
              <a:t>NOVELTIES </a:t>
            </a:r>
            <a:endParaRPr sz="1400" b="1" dirty="0">
              <a:solidFill>
                <a:srgbClr val="3B82F6"/>
              </a:solidFill>
              <a:latin typeface="Aptos"/>
            </a:endParaRPr>
          </a:p>
        </p:txBody>
      </p:sp>
      <p:sp>
        <p:nvSpPr>
          <p:cNvPr id="35" name="TextBox 9">
            <a:extLst>
              <a:ext uri="{FF2B5EF4-FFF2-40B4-BE49-F238E27FC236}">
                <a16:creationId xmlns:a16="http://schemas.microsoft.com/office/drawing/2014/main" id="{40FAC889-6F93-9267-F30B-6A579705B221}"/>
              </a:ext>
            </a:extLst>
          </p:cNvPr>
          <p:cNvSpPr txBox="1"/>
          <p:nvPr/>
        </p:nvSpPr>
        <p:spPr>
          <a:xfrm>
            <a:off x="7454262" y="1864184"/>
            <a:ext cx="4458344" cy="299312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N" sz="1400" b="1" dirty="0"/>
              <a:t>Point-in-Time Graph Intelligence</a:t>
            </a:r>
          </a:p>
          <a:p>
            <a:pPr lvl="1" algn="just">
              <a:spcAft>
                <a:spcPts val="0"/>
              </a:spcAft>
            </a:pPr>
            <a:r>
              <a:rPr lang="en-IN" sz="1400" dirty="0"/>
              <a:t>Rebuilds the entire graph when complaint is filed, </a:t>
            </a:r>
            <a:r>
              <a:rPr lang="en-IN" sz="1400" b="1" dirty="0"/>
              <a:t>preventing data-leakage flaw </a:t>
            </a:r>
            <a:r>
              <a:rPr lang="en-IN" sz="1400" dirty="0"/>
              <a:t>that inflates accuracy.</a:t>
            </a:r>
            <a:endParaRPr lang="en-IN" sz="1400" b="1" dirty="0"/>
          </a:p>
          <a:p>
            <a:pPr marL="285750" indent="-285750" algn="just">
              <a:spcBef>
                <a:spcPts val="3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N" sz="1400" b="1" dirty="0"/>
              <a:t>Cross-Complaint Network Discovery</a:t>
            </a:r>
            <a:endParaRPr lang="en-IN" sz="1400" dirty="0"/>
          </a:p>
          <a:p>
            <a:pPr lvl="1">
              <a:spcAft>
                <a:spcPts val="0"/>
              </a:spcAft>
            </a:pPr>
            <a:r>
              <a:rPr lang="en-IN" sz="1400" dirty="0"/>
              <a:t>Identifies </a:t>
            </a:r>
            <a:r>
              <a:rPr lang="en-IN" sz="1400" b="1" dirty="0"/>
              <a:t>fraud networks</a:t>
            </a:r>
            <a:r>
              <a:rPr lang="en-IN" sz="1400" dirty="0"/>
              <a:t>, related accounts and other victims cases.</a:t>
            </a:r>
          </a:p>
          <a:p>
            <a:pPr marL="285750" indent="-285750">
              <a:spcBef>
                <a:spcPts val="3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N" sz="1400" b="1" dirty="0"/>
              <a:t>Predictive Cash-Out Ranking</a:t>
            </a:r>
            <a:endParaRPr lang="en-IN" sz="1400" dirty="0"/>
          </a:p>
          <a:p>
            <a:pPr lvl="1" algn="just">
              <a:spcAft>
                <a:spcPts val="0"/>
              </a:spcAft>
            </a:pPr>
            <a:r>
              <a:rPr lang="en-IN" sz="1400" dirty="0"/>
              <a:t>Narrows cash-out points to a list of 5</a:t>
            </a:r>
            <a:r>
              <a:rPr lang="en-IN" sz="1400" b="1" dirty="0"/>
              <a:t>. Nearly 4x better </a:t>
            </a:r>
            <a:r>
              <a:rPr lang="en-IN" sz="1400" dirty="0"/>
              <a:t>than a standard tabular fraud model.</a:t>
            </a:r>
          </a:p>
          <a:p>
            <a:pPr marL="285750" indent="-285750" algn="just">
              <a:spcBef>
                <a:spcPts val="3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N" sz="1400" b="1" dirty="0"/>
              <a:t>Explainable &amp; Calibrated Predictions</a:t>
            </a:r>
            <a:r>
              <a:rPr lang="en-IN" sz="1400" dirty="0"/>
              <a:t> </a:t>
            </a:r>
          </a:p>
          <a:p>
            <a:pPr lvl="1">
              <a:spcAft>
                <a:spcPts val="0"/>
              </a:spcAft>
            </a:pPr>
            <a:r>
              <a:rPr lang="en-IN" sz="1400" dirty="0"/>
              <a:t>Confidence scores are backed by the factors that influenced each prediction. </a:t>
            </a:r>
          </a:p>
          <a:p>
            <a:pPr marL="285750" indent="-285750" algn="just">
              <a:spcAft>
                <a:spcPts val="0"/>
              </a:spcAft>
              <a:buFont typeface="Wingdings" panose="05000000000000000000" pitchFamily="2" charset="2"/>
              <a:buChar char="§"/>
            </a:pPr>
            <a:endParaRPr sz="1300" b="0" dirty="0">
              <a:latin typeface="Aptos"/>
            </a:endParaRPr>
          </a:p>
        </p:txBody>
      </p:sp>
      <p:sp>
        <p:nvSpPr>
          <p:cNvPr id="38" name="TextBox 8">
            <a:extLst>
              <a:ext uri="{FF2B5EF4-FFF2-40B4-BE49-F238E27FC236}">
                <a16:creationId xmlns:a16="http://schemas.microsoft.com/office/drawing/2014/main" id="{F6AAB533-ED3C-AB8C-4203-B203476BADA0}"/>
              </a:ext>
            </a:extLst>
          </p:cNvPr>
          <p:cNvSpPr txBox="1"/>
          <p:nvPr/>
        </p:nvSpPr>
        <p:spPr>
          <a:xfrm>
            <a:off x="448724" y="4876803"/>
            <a:ext cx="28346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>
                <a:solidFill>
                  <a:srgbClr val="3B82F6"/>
                </a:solidFill>
                <a:latin typeface="Aptos"/>
              </a:rPr>
              <a:t>OUR SOLUTION</a:t>
            </a:r>
            <a:endParaRPr sz="1400" b="1" dirty="0">
              <a:solidFill>
                <a:srgbClr val="3B82F6"/>
              </a:solidFill>
              <a:latin typeface="Aptos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60A37AA5-F5B3-B37A-AFDE-FD99D946B1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4791" b="36042"/>
          <a:stretch>
            <a:fillRect/>
          </a:stretch>
        </p:blipFill>
        <p:spPr>
          <a:xfrm>
            <a:off x="266060" y="5168252"/>
            <a:ext cx="11409476" cy="11092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C51BE62B-2C2C-3DF1-50CA-AFD7CBB7487F}"/>
              </a:ext>
            </a:extLst>
          </p:cNvPr>
          <p:cNvSpPr/>
          <p:nvPr/>
        </p:nvSpPr>
        <p:spPr>
          <a:xfrm>
            <a:off x="3169920" y="1517536"/>
            <a:ext cx="8747647" cy="4647210"/>
          </a:xfrm>
          <a:prstGeom prst="roundRect">
            <a:avLst>
              <a:gd name="adj" fmla="val 8000"/>
            </a:avLst>
          </a:prstGeom>
          <a:solidFill>
            <a:schemeClr val="bg1">
              <a:lumMod val="95000"/>
            </a:schemeClr>
          </a:solidFill>
          <a:ln>
            <a:solidFill>
              <a:srgbClr val="1D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100">
              <a:solidFill>
                <a:srgbClr val="0070C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7978DB3-2578-A448-710D-C6CC2CA174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734" r="16368" b="8365"/>
          <a:stretch>
            <a:fillRect/>
          </a:stretch>
        </p:blipFill>
        <p:spPr>
          <a:xfrm>
            <a:off x="559884" y="1442010"/>
            <a:ext cx="2362200" cy="4853483"/>
          </a:xfrm>
          <a:prstGeom prst="rect">
            <a:avLst/>
          </a:prstGeom>
        </p:spPr>
      </p:pic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A76C29B5-71BA-A6DE-B626-24C9F038FDE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25243"/>
            <a:ext cx="151596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UNFAZED</a:t>
            </a:r>
            <a:endParaRPr lang="en-IN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5DA81A9-645B-1EC0-7F9A-0FE45058E270}"/>
              </a:ext>
            </a:extLst>
          </p:cNvPr>
          <p:cNvSpPr txBox="1">
            <a:spLocks/>
          </p:cNvSpPr>
          <p:nvPr/>
        </p:nvSpPr>
        <p:spPr bwMode="auto">
          <a:xfrm>
            <a:off x="496384" y="1044792"/>
            <a:ext cx="2362200" cy="451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2400" b="1" dirty="0">
                <a:latin typeface="+mj-lt"/>
                <a:ea typeface="ＭＳ Ｐゴシック" pitchFamily="1" charset="-128"/>
                <a:cs typeface="Times New Roman" panose="02020603050405020304" pitchFamily="18" charset="0"/>
              </a:rPr>
              <a:t>WORKFLOW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8A8D9A8-D296-ABBB-0A57-A0F1BCC529D8}"/>
              </a:ext>
            </a:extLst>
          </p:cNvPr>
          <p:cNvSpPr txBox="1">
            <a:spLocks/>
          </p:cNvSpPr>
          <p:nvPr/>
        </p:nvSpPr>
        <p:spPr bwMode="auto">
          <a:xfrm>
            <a:off x="5247812" y="1039501"/>
            <a:ext cx="3235786" cy="451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2400" b="1" dirty="0">
                <a:latin typeface="+mj-lt"/>
                <a:ea typeface="ＭＳ Ｐゴシック" pitchFamily="1" charset="-128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14EFF2-5E51-333A-8C92-277576C2A2AA}"/>
              </a:ext>
            </a:extLst>
          </p:cNvPr>
          <p:cNvSpPr txBox="1"/>
          <p:nvPr/>
        </p:nvSpPr>
        <p:spPr>
          <a:xfrm>
            <a:off x="3286430" y="1653453"/>
            <a:ext cx="8674682" cy="42780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IN" sz="1700" b="1" dirty="0"/>
              <a:t>BACKEND: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700" b="1" dirty="0"/>
              <a:t>Python</a:t>
            </a:r>
            <a:r>
              <a:rPr lang="en-IN" sz="1700" dirty="0"/>
              <a:t> - Language for the API, ML pipeline, and graph engine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700" b="1" dirty="0" err="1"/>
              <a:t>FastAPI</a:t>
            </a:r>
            <a:r>
              <a:rPr lang="en-IN" sz="1700" dirty="0"/>
              <a:t> - REST API framework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700" b="1" dirty="0" err="1"/>
              <a:t>Uvicorn</a:t>
            </a:r>
            <a:r>
              <a:rPr lang="en-IN" sz="1700" dirty="0"/>
              <a:t> - Server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700" b="1" dirty="0"/>
              <a:t>SQLite</a:t>
            </a:r>
            <a:r>
              <a:rPr lang="en-IN" sz="1700" dirty="0"/>
              <a:t> </a:t>
            </a:r>
            <a:r>
              <a:rPr lang="en-IN" sz="1700" u="sng" dirty="0"/>
              <a:t>(demo)</a:t>
            </a:r>
            <a:r>
              <a:rPr lang="en-IN" sz="1700" dirty="0"/>
              <a:t> - Database, designed to be </a:t>
            </a:r>
            <a:r>
              <a:rPr lang="en-IN" sz="1700" b="1" dirty="0"/>
              <a:t>Postgres </a:t>
            </a:r>
            <a:r>
              <a:rPr lang="en-IN" sz="1700" dirty="0"/>
              <a:t>for production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700" b="1" dirty="0" err="1"/>
              <a:t>Pydantic</a:t>
            </a:r>
            <a:r>
              <a:rPr lang="en-IN" sz="1700" dirty="0"/>
              <a:t> - Request/response validation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700" b="1" dirty="0"/>
          </a:p>
          <a:p>
            <a:r>
              <a:rPr lang="en-IN" sz="1700" b="1" dirty="0"/>
              <a:t>MACHINE LEARNING: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700" b="1" dirty="0" err="1"/>
              <a:t>XGBoost</a:t>
            </a:r>
            <a:r>
              <a:rPr lang="en-IN" sz="1700" dirty="0"/>
              <a:t> - Gradient-boosted ranking model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700" b="1" dirty="0"/>
              <a:t>scikit-learn</a:t>
            </a:r>
            <a:r>
              <a:rPr lang="en-IN" sz="1700" dirty="0"/>
              <a:t> - Calibration, baseline model, evaluation metrics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700" b="1" dirty="0"/>
              <a:t>SHAP</a:t>
            </a:r>
            <a:r>
              <a:rPr lang="en-IN" sz="1700" dirty="0"/>
              <a:t> - Model explainability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700" b="1" dirty="0"/>
              <a:t>pandas / NumPy</a:t>
            </a:r>
            <a:r>
              <a:rPr lang="en-IN" sz="1700" dirty="0"/>
              <a:t> - Data processing and feature engineering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700" b="1" dirty="0" err="1"/>
              <a:t>NetworkX</a:t>
            </a:r>
            <a:r>
              <a:rPr lang="en-IN" sz="1700" dirty="0"/>
              <a:t> - Transaction graph, Louvain community detection (fraud ring discovery)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700" dirty="0"/>
          </a:p>
          <a:p>
            <a:r>
              <a:rPr lang="en-IN" sz="1700" b="1" dirty="0"/>
              <a:t>FRONTEND: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700" b="1" dirty="0"/>
              <a:t>React 18</a:t>
            </a:r>
            <a:r>
              <a:rPr lang="en-IN" sz="1700" dirty="0"/>
              <a:t> · </a:t>
            </a:r>
            <a:r>
              <a:rPr lang="en-IN" sz="1700" b="1" dirty="0"/>
              <a:t>Vite</a:t>
            </a:r>
            <a:r>
              <a:rPr lang="en-IN" sz="1700" dirty="0"/>
              <a:t> · </a:t>
            </a:r>
            <a:r>
              <a:rPr lang="en-IN" sz="1700" b="1" dirty="0"/>
              <a:t>Recharts</a:t>
            </a:r>
            <a:r>
              <a:rPr lang="en-IN" sz="1700" dirty="0"/>
              <a:t> · </a:t>
            </a:r>
            <a:r>
              <a:rPr lang="en-IN" sz="1700" b="1" dirty="0"/>
              <a:t>Leaflet </a:t>
            </a:r>
            <a:r>
              <a:rPr lang="en-IN" sz="1700" dirty="0"/>
              <a:t>(Maps)· </a:t>
            </a:r>
            <a:r>
              <a:rPr lang="en-IN" sz="1700" b="1" dirty="0"/>
              <a:t>react-force-graph-2d </a:t>
            </a:r>
            <a:r>
              <a:rPr lang="en-IN" sz="1700" dirty="0"/>
              <a:t>(Network </a:t>
            </a:r>
            <a:r>
              <a:rPr lang="en-IN" sz="1700" dirty="0" err="1"/>
              <a:t>Vizualization</a:t>
            </a:r>
            <a:r>
              <a:rPr lang="en-IN" sz="1700" dirty="0"/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86300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Rounded Rectangle 6">
            <a:extLst>
              <a:ext uri="{FF2B5EF4-FFF2-40B4-BE49-F238E27FC236}">
                <a16:creationId xmlns:a16="http://schemas.microsoft.com/office/drawing/2014/main" id="{E7391B74-384C-2D62-05A0-75567A0B8949}"/>
              </a:ext>
            </a:extLst>
          </p:cNvPr>
          <p:cNvSpPr/>
          <p:nvPr/>
        </p:nvSpPr>
        <p:spPr>
          <a:xfrm>
            <a:off x="558070" y="1092863"/>
            <a:ext cx="4843666" cy="3774809"/>
          </a:xfrm>
          <a:prstGeom prst="roundRect">
            <a:avLst>
              <a:gd name="adj" fmla="val 5062"/>
            </a:avLst>
          </a:prstGeom>
          <a:solidFill>
            <a:schemeClr val="bg1">
              <a:lumMod val="95000"/>
            </a:schemeClr>
          </a:solidFill>
          <a:ln>
            <a:solidFill>
              <a:srgbClr val="1D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rgbClr val="0070C0"/>
              </a:solidFill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4C61A627-517F-FBA9-9628-BFAB8C6DC88E}"/>
              </a:ext>
            </a:extLst>
          </p:cNvPr>
          <p:cNvSpPr txBox="1"/>
          <p:nvPr/>
        </p:nvSpPr>
        <p:spPr>
          <a:xfrm>
            <a:off x="702001" y="1153548"/>
            <a:ext cx="28346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rgbClr val="3B82F6"/>
                </a:solidFill>
                <a:latin typeface="Aptos"/>
              </a:rPr>
              <a:t>FEASIBILITY</a:t>
            </a:r>
            <a:endParaRPr sz="1600" b="1" dirty="0">
              <a:solidFill>
                <a:srgbClr val="3B82F6"/>
              </a:solidFill>
              <a:latin typeface="Aptos"/>
            </a:endParaRP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4BF2754F-EEC3-7E62-A243-CE3224D323C1}"/>
              </a:ext>
            </a:extLst>
          </p:cNvPr>
          <p:cNvSpPr txBox="1"/>
          <p:nvPr/>
        </p:nvSpPr>
        <p:spPr>
          <a:xfrm>
            <a:off x="714870" y="1478298"/>
            <a:ext cx="4576798" cy="30623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400" b="1" dirty="0"/>
              <a:t>Working end-to-end prototype:</a:t>
            </a:r>
            <a:r>
              <a:rPr lang="en-IN" sz="1400" dirty="0"/>
              <a:t> Complaint → Graph → Prediction → Explanation.</a:t>
            </a:r>
          </a:p>
          <a:p>
            <a:pPr marL="285750" lvl="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IN" sz="1400" b="1" dirty="0"/>
              <a:t>Validated at realistic scale:</a:t>
            </a:r>
            <a:r>
              <a:rPr lang="en-IN" sz="1400" dirty="0"/>
              <a:t> 700+ complaints, 1,500+ mule accounts, 2,400+ transfers, 5 cities.</a:t>
            </a:r>
          </a:p>
          <a:p>
            <a:pPr marL="285750" lvl="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IN" sz="1400" b="1" dirty="0"/>
              <a:t>Lightweight compute requirements:</a:t>
            </a:r>
            <a:r>
              <a:rPr lang="en-IN" sz="1400" dirty="0"/>
              <a:t> Runs on normal infrastructure. No GPU clusters required.</a:t>
            </a:r>
          </a:p>
          <a:p>
            <a:pPr marL="285750" lvl="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IN" sz="1400" b="1" dirty="0"/>
              <a:t>High-quality synthetic dataset:</a:t>
            </a:r>
            <a:r>
              <a:rPr lang="en-IN" sz="1400" dirty="0"/>
              <a:t> Realistic fraud networks, multi-hop flows and geographic patterns.</a:t>
            </a:r>
          </a:p>
          <a:p>
            <a:pPr marL="285750" lvl="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IN" sz="1400" b="1" dirty="0"/>
              <a:t>Production-ready architecture:</a:t>
            </a:r>
            <a:r>
              <a:rPr lang="en-IN" sz="1400" dirty="0"/>
              <a:t> SQLite (demo) → PostgreSQL (production)</a:t>
            </a:r>
          </a:p>
          <a:p>
            <a:pPr marL="285750" lvl="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IN" sz="1400" b="1" dirty="0"/>
              <a:t>Designed for real-world adoption: </a:t>
            </a:r>
            <a:r>
              <a:rPr lang="en-IN" sz="1400" dirty="0"/>
              <a:t>Can be Integrated with existing NCRP Workflows.</a:t>
            </a:r>
          </a:p>
        </p:txBody>
      </p:sp>
      <p:sp>
        <p:nvSpPr>
          <p:cNvPr id="26" name="Oval 25" descr="Your startup LOGO">
            <a:extLst>
              <a:ext uri="{FF2B5EF4-FFF2-40B4-BE49-F238E27FC236}">
                <a16:creationId xmlns:a16="http://schemas.microsoft.com/office/drawing/2014/main" id="{01E5859D-7AF1-1E9F-06F2-F7EE979B206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25243"/>
            <a:ext cx="151596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UNFAZED</a:t>
            </a:r>
            <a:endParaRPr lang="en-IN" dirty="0"/>
          </a:p>
        </p:txBody>
      </p:sp>
      <p:sp>
        <p:nvSpPr>
          <p:cNvPr id="27" name="Rounded Rectangle 6">
            <a:extLst>
              <a:ext uri="{FF2B5EF4-FFF2-40B4-BE49-F238E27FC236}">
                <a16:creationId xmlns:a16="http://schemas.microsoft.com/office/drawing/2014/main" id="{C4045AB6-AC50-0E60-226A-BC72BEDD747B}"/>
              </a:ext>
            </a:extLst>
          </p:cNvPr>
          <p:cNvSpPr/>
          <p:nvPr/>
        </p:nvSpPr>
        <p:spPr>
          <a:xfrm>
            <a:off x="5571495" y="1099391"/>
            <a:ext cx="6087107" cy="1847394"/>
          </a:xfrm>
          <a:prstGeom prst="roundRect">
            <a:avLst>
              <a:gd name="adj" fmla="val 8000"/>
            </a:avLst>
          </a:prstGeom>
          <a:solidFill>
            <a:schemeClr val="bg1">
              <a:lumMod val="95000"/>
            </a:schemeClr>
          </a:solidFill>
          <a:ln>
            <a:solidFill>
              <a:srgbClr val="1D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rgbClr val="0070C0"/>
              </a:solidFill>
            </a:endParaRPr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F9E649DB-F0D5-A65C-86E6-6D77927107AC}"/>
              </a:ext>
            </a:extLst>
          </p:cNvPr>
          <p:cNvSpPr txBox="1"/>
          <p:nvPr/>
        </p:nvSpPr>
        <p:spPr>
          <a:xfrm>
            <a:off x="5675549" y="1160074"/>
            <a:ext cx="341189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rgbClr val="3B82F6"/>
                </a:solidFill>
                <a:latin typeface="Aptos"/>
              </a:rPr>
              <a:t>CHALLENGES</a:t>
            </a:r>
            <a:endParaRPr sz="1600" b="1" dirty="0">
              <a:solidFill>
                <a:srgbClr val="3B82F6"/>
              </a:solidFill>
              <a:latin typeface="Aptos"/>
            </a:endParaRPr>
          </a:p>
        </p:txBody>
      </p:sp>
      <p:sp>
        <p:nvSpPr>
          <p:cNvPr id="29" name="TextBox 9">
            <a:extLst>
              <a:ext uri="{FF2B5EF4-FFF2-40B4-BE49-F238E27FC236}">
                <a16:creationId xmlns:a16="http://schemas.microsoft.com/office/drawing/2014/main" id="{78822D09-B894-2CB6-3E91-DA5F3DCA1800}"/>
              </a:ext>
            </a:extLst>
          </p:cNvPr>
          <p:cNvSpPr txBox="1"/>
          <p:nvPr/>
        </p:nvSpPr>
        <p:spPr>
          <a:xfrm>
            <a:off x="5667059" y="1442489"/>
            <a:ext cx="594921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400" b="1" dirty="0"/>
              <a:t>Data Silos</a:t>
            </a:r>
            <a:r>
              <a:rPr lang="en-IN" sz="1400" dirty="0"/>
              <a:t>: Live data from banks &amp; states requires </a:t>
            </a:r>
            <a:r>
              <a:rPr lang="en-IN" sz="1400" dirty="0" err="1"/>
              <a:t>MoUs</a:t>
            </a:r>
            <a:r>
              <a:rPr lang="en-IN" sz="1400" dirty="0"/>
              <a:t> &amp; API integration.</a:t>
            </a:r>
          </a:p>
          <a:p>
            <a:pPr marL="285750" lvl="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IN" sz="1400" b="1" dirty="0"/>
              <a:t>False positives</a:t>
            </a:r>
            <a:r>
              <a:rPr lang="en-IN" sz="1400" dirty="0"/>
              <a:t>: Large no. of locations = even strong model can produce incorrect results.</a:t>
            </a:r>
          </a:p>
          <a:p>
            <a:pPr marL="285750" lvl="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IN" sz="1400" b="1" dirty="0"/>
              <a:t>Evolving Patterns</a:t>
            </a:r>
            <a:r>
              <a:rPr lang="en-IN" sz="1400" dirty="0"/>
              <a:t>: Fraud networks change patterns &amp; behaviours overtime.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400" b="1" dirty="0"/>
              <a:t>Privacy</a:t>
            </a:r>
            <a:r>
              <a:rPr lang="en-IN" sz="1400" dirty="0"/>
              <a:t>: Sensitive data requires DPDP Act-grade data protection.</a:t>
            </a:r>
          </a:p>
        </p:txBody>
      </p:sp>
      <p:sp>
        <p:nvSpPr>
          <p:cNvPr id="36" name="Rounded Rectangle 6">
            <a:extLst>
              <a:ext uri="{FF2B5EF4-FFF2-40B4-BE49-F238E27FC236}">
                <a16:creationId xmlns:a16="http://schemas.microsoft.com/office/drawing/2014/main" id="{61A27B6E-13EE-8D79-7364-ADA5C1D309C1}"/>
              </a:ext>
            </a:extLst>
          </p:cNvPr>
          <p:cNvSpPr/>
          <p:nvPr/>
        </p:nvSpPr>
        <p:spPr>
          <a:xfrm>
            <a:off x="5549722" y="3079102"/>
            <a:ext cx="6108880" cy="1788570"/>
          </a:xfrm>
          <a:prstGeom prst="roundRect">
            <a:avLst>
              <a:gd name="adj" fmla="val 8000"/>
            </a:avLst>
          </a:prstGeom>
          <a:solidFill>
            <a:schemeClr val="bg1">
              <a:lumMod val="95000"/>
            </a:schemeClr>
          </a:solidFill>
          <a:ln>
            <a:solidFill>
              <a:srgbClr val="1D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rgbClr val="0070C0"/>
              </a:solidFill>
            </a:endParaRPr>
          </a:p>
        </p:txBody>
      </p:sp>
      <p:sp>
        <p:nvSpPr>
          <p:cNvPr id="37" name="TextBox 8">
            <a:extLst>
              <a:ext uri="{FF2B5EF4-FFF2-40B4-BE49-F238E27FC236}">
                <a16:creationId xmlns:a16="http://schemas.microsoft.com/office/drawing/2014/main" id="{E51FE085-62A2-3727-0599-FC02595254B8}"/>
              </a:ext>
            </a:extLst>
          </p:cNvPr>
          <p:cNvSpPr txBox="1"/>
          <p:nvPr/>
        </p:nvSpPr>
        <p:spPr>
          <a:xfrm>
            <a:off x="5675549" y="3139786"/>
            <a:ext cx="504881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rgbClr val="3B82F6"/>
                </a:solidFill>
                <a:latin typeface="Aptos"/>
              </a:rPr>
              <a:t>STRATEGIES FOR OVERCOMING CHALLENGES</a:t>
            </a:r>
            <a:endParaRPr sz="1600" b="1" dirty="0">
              <a:solidFill>
                <a:srgbClr val="3B82F6"/>
              </a:solidFill>
              <a:latin typeface="Aptos"/>
            </a:endParaRPr>
          </a:p>
        </p:txBody>
      </p:sp>
      <p:sp>
        <p:nvSpPr>
          <p:cNvPr id="38" name="TextBox 9">
            <a:extLst>
              <a:ext uri="{FF2B5EF4-FFF2-40B4-BE49-F238E27FC236}">
                <a16:creationId xmlns:a16="http://schemas.microsoft.com/office/drawing/2014/main" id="{C9C3B4D1-6272-F697-36F9-E3C35A690DC1}"/>
              </a:ext>
            </a:extLst>
          </p:cNvPr>
          <p:cNvSpPr txBox="1"/>
          <p:nvPr/>
        </p:nvSpPr>
        <p:spPr>
          <a:xfrm>
            <a:off x="5675548" y="3422201"/>
            <a:ext cx="5801582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400" b="1" dirty="0"/>
              <a:t>Phase Launch</a:t>
            </a:r>
            <a:r>
              <a:rPr lang="en-IN" sz="1400" dirty="0"/>
              <a:t>: One bank + state cyber cell → Scale to multiple.</a:t>
            </a:r>
          </a:p>
          <a:p>
            <a:pPr marL="285750" lvl="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IN" sz="1400" b="1" dirty="0"/>
              <a:t>Human Approval</a:t>
            </a:r>
            <a:r>
              <a:rPr lang="en-IN" sz="1400" dirty="0"/>
              <a:t>: Requires Human approval before any action. </a:t>
            </a:r>
          </a:p>
          <a:p>
            <a:pPr marL="285750" lvl="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IN" sz="1400" b="1" dirty="0"/>
              <a:t>Continuous retraining</a:t>
            </a:r>
            <a:r>
              <a:rPr lang="en-IN" sz="1400" dirty="0"/>
              <a:t>: Retraining using newly closed cases to adapt to evolving behaviour.</a:t>
            </a:r>
          </a:p>
          <a:p>
            <a:pPr marL="285750" lvl="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IN" sz="1400" b="1" dirty="0"/>
              <a:t>Privacy</a:t>
            </a:r>
            <a:r>
              <a:rPr lang="en-IN" sz="1400" dirty="0"/>
              <a:t>: Display obfuscated codes instead of raw sensitive data. 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C7D1DA3C-833C-93DD-E1A7-219A995EEC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97" t="33125" r="3606" b="34475"/>
          <a:stretch>
            <a:fillRect/>
          </a:stretch>
        </p:blipFill>
        <p:spPr>
          <a:xfrm>
            <a:off x="871955" y="5322523"/>
            <a:ext cx="9477356" cy="891796"/>
          </a:xfrm>
          <a:prstGeom prst="rect">
            <a:avLst/>
          </a:prstGeom>
        </p:spPr>
      </p:pic>
      <p:sp>
        <p:nvSpPr>
          <p:cNvPr id="41" name="TextBox 8">
            <a:extLst>
              <a:ext uri="{FF2B5EF4-FFF2-40B4-BE49-F238E27FC236}">
                <a16:creationId xmlns:a16="http://schemas.microsoft.com/office/drawing/2014/main" id="{89FC62FA-495E-F173-9E2D-5706F0074FEF}"/>
              </a:ext>
            </a:extLst>
          </p:cNvPr>
          <p:cNvSpPr txBox="1"/>
          <p:nvPr/>
        </p:nvSpPr>
        <p:spPr>
          <a:xfrm>
            <a:off x="604099" y="4963573"/>
            <a:ext cx="271189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rgbClr val="3B82F6"/>
                </a:solidFill>
                <a:latin typeface="Aptos"/>
              </a:rPr>
              <a:t>DEPLOYMENT ROADMAP</a:t>
            </a:r>
            <a:endParaRPr sz="1600" b="1" dirty="0">
              <a:solidFill>
                <a:srgbClr val="3B82F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954" y="39027"/>
            <a:ext cx="2098647" cy="990942"/>
          </a:xfrm>
          <a:prstGeom prst="rect">
            <a:avLst/>
          </a:prstGeom>
        </p:spPr>
      </p:pic>
      <p:sp>
        <p:nvSpPr>
          <p:cNvPr id="3" name="Rounded Rectangle 6">
            <a:extLst>
              <a:ext uri="{FF2B5EF4-FFF2-40B4-BE49-F238E27FC236}">
                <a16:creationId xmlns:a16="http://schemas.microsoft.com/office/drawing/2014/main" id="{54D78FA7-70A1-F70B-D015-92E9E92293C6}"/>
              </a:ext>
            </a:extLst>
          </p:cNvPr>
          <p:cNvSpPr/>
          <p:nvPr/>
        </p:nvSpPr>
        <p:spPr>
          <a:xfrm>
            <a:off x="431067" y="1111486"/>
            <a:ext cx="4411357" cy="5106754"/>
          </a:xfrm>
          <a:prstGeom prst="roundRect">
            <a:avLst>
              <a:gd name="adj" fmla="val 2759"/>
            </a:avLst>
          </a:prstGeom>
          <a:solidFill>
            <a:schemeClr val="bg1">
              <a:lumMod val="95000"/>
            </a:schemeClr>
          </a:solidFill>
          <a:ln>
            <a:solidFill>
              <a:srgbClr val="1D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rgbClr val="0070C0"/>
              </a:solidFill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12B4FAE5-F118-DE97-10C0-997FB0289592}"/>
              </a:ext>
            </a:extLst>
          </p:cNvPr>
          <p:cNvSpPr txBox="1"/>
          <p:nvPr/>
        </p:nvSpPr>
        <p:spPr>
          <a:xfrm>
            <a:off x="574998" y="1172170"/>
            <a:ext cx="4784401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rgbClr val="3B82F6"/>
                </a:solidFill>
                <a:latin typeface="Aptos"/>
              </a:rPr>
              <a:t>IMPACTS ON CYBERCELLS</a:t>
            </a:r>
            <a:endParaRPr sz="1600" b="1" dirty="0">
              <a:solidFill>
                <a:srgbClr val="3B82F6"/>
              </a:solidFill>
              <a:latin typeface="Aptos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5E1BA6F-A950-D349-0E5D-CEA90ED4D94F}"/>
              </a:ext>
            </a:extLst>
          </p:cNvPr>
          <p:cNvSpPr txBox="1"/>
          <p:nvPr/>
        </p:nvSpPr>
        <p:spPr>
          <a:xfrm>
            <a:off x="587868" y="1488453"/>
            <a:ext cx="4060331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600" b="1" dirty="0"/>
              <a:t>Faster investigations:</a:t>
            </a:r>
            <a:r>
              <a:rPr lang="en-IN" sz="1600" dirty="0"/>
              <a:t> Reduces hundreds of possible withdrawal endpoints to a </a:t>
            </a:r>
            <a:r>
              <a:rPr lang="en-IN" sz="1600" b="1" dirty="0"/>
              <a:t>ranked Top-5 shortlist</a:t>
            </a:r>
            <a:endParaRPr lang="en-IN" sz="1600" dirty="0"/>
          </a:p>
          <a:p>
            <a:pPr marL="285750" lvl="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Earlier intervention:</a:t>
            </a:r>
            <a:r>
              <a:rPr lang="en-IN" sz="1600" dirty="0"/>
              <a:t> In our </a:t>
            </a:r>
            <a:r>
              <a:rPr lang="en-IN" sz="1600" dirty="0" err="1"/>
              <a:t>modeled</a:t>
            </a:r>
            <a:r>
              <a:rPr lang="en-IN" sz="1600" dirty="0"/>
              <a:t> dataset, 121 of 138 test cases had a </a:t>
            </a:r>
            <a:r>
              <a:rPr lang="en-IN" sz="1600" b="1" dirty="0"/>
              <a:t>real filing-to-cash-out window</a:t>
            </a:r>
            <a:r>
              <a:rPr lang="en-IN" sz="1600" dirty="0"/>
              <a:t>, averaging 4.4 hours.</a:t>
            </a:r>
            <a:endParaRPr lang="en-IN" dirty="0"/>
          </a:p>
          <a:p>
            <a:pPr marL="285750" lvl="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Fraud Network visibility: </a:t>
            </a:r>
            <a:r>
              <a:rPr lang="en-IN" sz="1600" dirty="0"/>
              <a:t>One complaint can uncover </a:t>
            </a:r>
            <a:r>
              <a:rPr lang="en-IN" sz="1600" b="1" dirty="0"/>
              <a:t>30-40+ linked mule accounts and other victim cases</a:t>
            </a:r>
            <a:r>
              <a:rPr lang="en-IN" sz="1600" dirty="0"/>
              <a:t>, expanding investigative reach. </a:t>
            </a:r>
          </a:p>
          <a:p>
            <a:pPr marL="285750" lvl="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Measurable Performance:</a:t>
            </a:r>
            <a:r>
              <a:rPr lang="en-IN" sz="1600" dirty="0"/>
              <a:t> Prototype evaluation shows </a:t>
            </a:r>
            <a:r>
              <a:rPr lang="en-IN" sz="1600" b="1" dirty="0"/>
              <a:t>48.6% Precision@5 </a:t>
            </a:r>
            <a:r>
              <a:rPr lang="en-IN" sz="1600" dirty="0"/>
              <a:t>vs</a:t>
            </a:r>
            <a:r>
              <a:rPr lang="en-IN" sz="1600" b="1" dirty="0"/>
              <a:t> 12.3% Baseline</a:t>
            </a:r>
            <a:r>
              <a:rPr lang="en-IN" sz="1600" dirty="0"/>
              <a:t>, with an average </a:t>
            </a:r>
            <a:r>
              <a:rPr lang="en-IN" sz="1600" b="1" dirty="0"/>
              <a:t>4.4-hour lead</a:t>
            </a:r>
            <a:r>
              <a:rPr lang="en-IN" sz="1600" dirty="0"/>
              <a:t> on actionable cases.</a:t>
            </a:r>
          </a:p>
        </p:txBody>
      </p:sp>
      <p:sp>
        <p:nvSpPr>
          <p:cNvPr id="14" name="Oval 13" descr="Your startup LOGO">
            <a:extLst>
              <a:ext uri="{FF2B5EF4-FFF2-40B4-BE49-F238E27FC236}">
                <a16:creationId xmlns:a16="http://schemas.microsoft.com/office/drawing/2014/main" id="{7F41DA60-31A0-25E0-F9A2-1D1608F249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25243"/>
            <a:ext cx="151596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UNFAZED</a:t>
            </a:r>
            <a:endParaRPr lang="en-IN" dirty="0"/>
          </a:p>
        </p:txBody>
      </p:sp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67522A54-C7CA-D012-46A5-80F6D9A0C0D0}"/>
              </a:ext>
            </a:extLst>
          </p:cNvPr>
          <p:cNvSpPr/>
          <p:nvPr/>
        </p:nvSpPr>
        <p:spPr>
          <a:xfrm>
            <a:off x="4986867" y="1111486"/>
            <a:ext cx="6942666" cy="2511620"/>
          </a:xfrm>
          <a:prstGeom prst="roundRect">
            <a:avLst>
              <a:gd name="adj" fmla="val 5062"/>
            </a:avLst>
          </a:prstGeom>
          <a:solidFill>
            <a:schemeClr val="bg1">
              <a:lumMod val="95000"/>
            </a:schemeClr>
          </a:solidFill>
          <a:ln>
            <a:solidFill>
              <a:srgbClr val="1D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rgbClr val="0070C0"/>
              </a:solidFill>
            </a:endParaRP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6576D54B-53F4-5196-0227-0D8C4A8C06D3}"/>
              </a:ext>
            </a:extLst>
          </p:cNvPr>
          <p:cNvSpPr txBox="1"/>
          <p:nvPr/>
        </p:nvSpPr>
        <p:spPr>
          <a:xfrm>
            <a:off x="5173133" y="1172170"/>
            <a:ext cx="533066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rgbClr val="3B82F6"/>
                </a:solidFill>
                <a:latin typeface="Aptos"/>
              </a:rPr>
              <a:t>SOCIAL &amp; ECONOMICAL BENEFITS </a:t>
            </a:r>
            <a:endParaRPr sz="1600" b="1" dirty="0">
              <a:solidFill>
                <a:srgbClr val="3B82F6"/>
              </a:solidFill>
              <a:latin typeface="Aptos"/>
            </a:endParaRP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F68BD0E4-6F52-938F-D4FE-BD0336709B27}"/>
              </a:ext>
            </a:extLst>
          </p:cNvPr>
          <p:cNvSpPr txBox="1"/>
          <p:nvPr/>
        </p:nvSpPr>
        <p:spPr>
          <a:xfrm>
            <a:off x="5088468" y="1454585"/>
            <a:ext cx="684106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Higher recovery potential: </a:t>
            </a:r>
            <a:r>
              <a:rPr lang="en-IN" sz="1600" dirty="0"/>
              <a:t>Earlier intervention can improve chances of </a:t>
            </a:r>
            <a:r>
              <a:rPr lang="en-IN" sz="1600" b="1" dirty="0"/>
              <a:t>actual victim recovery</a:t>
            </a:r>
            <a:r>
              <a:rPr lang="en-IN" sz="16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Public trust:</a:t>
            </a:r>
            <a:r>
              <a:rPr lang="en-IN" sz="1600" dirty="0"/>
              <a:t> Strengthens confidence in India's growing digital-payment ecosystem.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Lower investigation cost: </a:t>
            </a:r>
            <a:r>
              <a:rPr lang="en-IN" sz="1600" dirty="0"/>
              <a:t>Reduces manual tracing effort and helps cyber cells handle more cases.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National-scale impact: </a:t>
            </a:r>
            <a:r>
              <a:rPr lang="en-IN" sz="1600" dirty="0"/>
              <a:t>India loses thousands of crores annually. Small lift in recovery is crores at national volume.</a:t>
            </a:r>
            <a:br>
              <a:rPr lang="en-IN" sz="1600" dirty="0"/>
            </a:br>
            <a:endParaRPr lang="en-IN" sz="16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B6F5BBA-644F-58C1-6A16-9CAD828C8E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22" t="7168" r="8012" b="7834"/>
          <a:stretch>
            <a:fillRect/>
          </a:stretch>
        </p:blipFill>
        <p:spPr>
          <a:xfrm>
            <a:off x="5029200" y="3762909"/>
            <a:ext cx="3401396" cy="245205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569BFFA-B54F-3944-BD39-C874533BE6F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22" t="2822" r="2647" b="4390"/>
          <a:stretch>
            <a:fillRect/>
          </a:stretch>
        </p:blipFill>
        <p:spPr>
          <a:xfrm>
            <a:off x="8575039" y="3762909"/>
            <a:ext cx="3307081" cy="245533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7817</TotalTime>
  <Words>895</Words>
  <Application>Microsoft Office PowerPoint</Application>
  <PresentationFormat>Widescreen</PresentationFormat>
  <Paragraphs>116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ＭＳ Ｐゴシック</vt:lpstr>
      <vt:lpstr>Aptos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 - Predictive Fund-Flow Analysis      for Cybercrime Investigations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Naveen Kumar</cp:lastModifiedBy>
  <cp:revision>160</cp:revision>
  <dcterms:created xsi:type="dcterms:W3CDTF">2013-12-12T18:46:50Z</dcterms:created>
  <dcterms:modified xsi:type="dcterms:W3CDTF">2026-09-06T17:27:33Z</dcterms:modified>
  <cp:category/>
</cp:coreProperties>
</file>